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3987E5"/>
                </a:solidFill>
                <a:latin typeface="Calibri"/>
              </a:rPr>
              <a:t>PROJECT 15  ·  SDAI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Workforce Shift Planning &amp;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Fatigue Risk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C3C2B7"/>
                </a:solidFill>
                <a:latin typeface="Calibri"/>
              </a:rPr>
              <a:t>A multi-tenant scheduling platform with rule-based fatigue scoring and an AI explanation layer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617720"/>
            <a:ext cx="2011680" cy="25400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8006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3987E5"/>
                </a:solidFill>
                <a:latin typeface="Calibri"/>
              </a:rPr>
              <a:t>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6636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3987E5"/>
                </a:solidFill>
                <a:latin typeface="Calibri"/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Ayushman Singh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3987E5"/>
                </a:solidFill>
                <a:latin typeface="Calibri"/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Raju Sutradhar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3987E5"/>
                </a:solidFill>
                <a:latin typeface="Calibri"/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Aryan Kumar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3987E5"/>
                </a:solidFill>
                <a:latin typeface="Calibri"/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Devansh Saxena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3987E5"/>
                </a:solidFill>
                <a:latin typeface="Calibri"/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Ambika Darare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8006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3987E5"/>
                </a:solidFill>
                <a:latin typeface="Calibri"/>
              </a:rPr>
              <a:t>DURATION &amp; DOMAIN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516636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3987E5"/>
                </a:solidFill>
                <a:latin typeface="Calibri"/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10-day build sprint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3987E5"/>
                </a:solidFill>
                <a:latin typeface="Calibri"/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Domain: workforce safety &amp; scheduling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3987E5"/>
                </a:solidFill>
                <a:latin typeface="Calibri"/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Stack: React · Node/Express · MongoDB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987E5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Manual shift scheduling is blind to fatigue 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2011680" cy="38100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760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3987E5"/>
                </a:solidFill>
                <a:latin typeface="Calibri"/>
              </a:rPr>
              <a:t>•  </a:t>
            </a:r>
            <a:r>
              <a:rPr sz="1650" b="1">
                <a:solidFill>
                  <a:srgbClr val="0B0B0B"/>
                </a:solidFill>
                <a:latin typeface="Calibri"/>
              </a:rPr>
              <a:t>Spreadsheets don't check rest hours. </a:t>
            </a:r>
            <a:r>
              <a:rPr sz="1650" b="0">
                <a:solidFill>
                  <a:srgbClr val="0B0B0B"/>
                </a:solidFill>
                <a:latin typeface="Calibri"/>
              </a:rPr>
              <a:t>Managers assign shifts by availability alone — nothing flags that an employee has only 4 hours of rest before their next shift.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3987E5"/>
                </a:solidFill>
                <a:latin typeface="Calibri"/>
              </a:rPr>
              <a:t>•  </a:t>
            </a:r>
            <a:r>
              <a:rPr sz="1650" b="1">
                <a:solidFill>
                  <a:srgbClr val="0B0B0B"/>
                </a:solidFill>
                <a:latin typeface="Calibri"/>
              </a:rPr>
              <a:t>Overtime stacks invisibly. </a:t>
            </a:r>
            <a:r>
              <a:rPr sz="1650" b="0">
                <a:solidFill>
                  <a:srgbClr val="0B0B0B"/>
                </a:solidFill>
                <a:latin typeface="Calibri"/>
              </a:rPr>
              <a:t>Weekly-hour caps and consecutive-day limits are easy to lose track of across dozens of employees and rotating shifts.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3987E5"/>
                </a:solidFill>
                <a:latin typeface="Calibri"/>
              </a:rPr>
              <a:t>•  </a:t>
            </a:r>
            <a:r>
              <a:rPr sz="1650" b="1">
                <a:solidFill>
                  <a:srgbClr val="0B0B0B"/>
                </a:solidFill>
                <a:latin typeface="Calibri"/>
              </a:rPr>
              <a:t>Fatigue is a safety issue, not a preference. </a:t>
            </a:r>
            <a:r>
              <a:rPr sz="1650" b="0">
                <a:solidFill>
                  <a:srgbClr val="0B0B0B"/>
                </a:solidFill>
                <a:latin typeface="Calibri"/>
              </a:rPr>
              <a:t>In healthcare, security, and logistics, fatigued staff drive real incident rates — medical errors, accidents, and near-misses correlate directly with insufficient rest.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3987E5"/>
                </a:solidFill>
                <a:latin typeface="Calibri"/>
              </a:rPr>
              <a:t>•  </a:t>
            </a:r>
            <a:r>
              <a:rPr sz="1650" b="1">
                <a:solidFill>
                  <a:srgbClr val="0B0B0B"/>
                </a:solidFill>
                <a:latin typeface="Calibri"/>
              </a:rPr>
              <a:t>No audit trail. </a:t>
            </a:r>
            <a:r>
              <a:rPr sz="1650" b="0">
                <a:solidFill>
                  <a:srgbClr val="0B0B0B"/>
                </a:solidFill>
                <a:latin typeface="Calibri"/>
              </a:rPr>
              <a:t>When an incident does happen, there's usually no record of whether the schedule that caused it was ever flagged as risky.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0" y="1691640"/>
            <a:ext cx="4754880" cy="4297680"/>
          </a:xfrm>
          <a:prstGeom prst="rect">
            <a:avLst/>
          </a:prstGeom>
          <a:solidFill>
            <a:srgbClr val="F9F9F7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1920240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3987E5"/>
                </a:solidFill>
                <a:latin typeface="Calibri"/>
              </a:rPr>
              <a:t>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2331720"/>
            <a:ext cx="4206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1">
                <a:solidFill>
                  <a:srgbClr val="3987E5"/>
                </a:solidFill>
                <a:latin typeface="Calibri"/>
              </a:rPr>
              <a:t>•  </a:t>
            </a:r>
            <a:r>
              <a:rPr sz="1500">
                <a:solidFill>
                  <a:srgbClr val="0B0B0B"/>
                </a:solidFill>
                <a:latin typeface="Calibri"/>
              </a:rPr>
              <a:t>Regulatory rest-hour requirements exist across healthcare, transport, and industrial shift work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1">
                <a:solidFill>
                  <a:srgbClr val="3987E5"/>
                </a:solidFill>
                <a:latin typeface="Calibri"/>
              </a:rPr>
              <a:t>•  </a:t>
            </a:r>
            <a:r>
              <a:rPr sz="1500">
                <a:solidFill>
                  <a:srgbClr val="0B0B0B"/>
                </a:solidFill>
                <a:latin typeface="Calibri"/>
              </a:rPr>
              <a:t>Fatigue-related incidents carry direct cost: liability, turnover, lost productivity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1">
                <a:solidFill>
                  <a:srgbClr val="3987E5"/>
                </a:solidFill>
                <a:latin typeface="Calibri"/>
              </a:rPr>
              <a:t>•  </a:t>
            </a:r>
            <a:r>
              <a:rPr sz="1500">
                <a:solidFill>
                  <a:srgbClr val="0B0B0B"/>
                </a:solidFill>
                <a:latin typeface="Calibri"/>
              </a:rPr>
              <a:t>Multi-location organizations can't manually cross-check every employee's rolling 7-day workload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1">
                <a:solidFill>
                  <a:srgbClr val="3987E5"/>
                </a:solidFill>
                <a:latin typeface="Calibri"/>
              </a:rPr>
              <a:t>•  </a:t>
            </a:r>
            <a:r>
              <a:rPr sz="1500">
                <a:solidFill>
                  <a:srgbClr val="0B0B0B"/>
                </a:solidFill>
                <a:latin typeface="Calibri"/>
              </a:rPr>
              <a:t>A system that catches this before publishing the schedule — not after an incident — is the actual product 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987E5"/>
                </a:solidFill>
                <a:latin typeface="Calibri"/>
              </a:rPr>
              <a:t>DATA &amp; DOMAIN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What the system is built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2011680" cy="38100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 i="1">
                <a:solidFill>
                  <a:srgbClr val="52514E"/>
                </a:solidFill>
                <a:latin typeface="Calibri"/>
              </a:rPr>
              <a:t>This isn't a trained ML model — it's a rule engine over a real operational data model, plus an LLM used only for language, never for scoring.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3520440" cy="3657600"/>
          </a:xfrm>
          <a:prstGeom prst="rect">
            <a:avLst/>
          </a:prstGeom>
          <a:solidFill>
            <a:srgbClr val="F9F9F7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3520440" cy="73152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5603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0B0B0B"/>
                </a:solidFill>
                <a:latin typeface="Calibri"/>
              </a:rPr>
              <a:t>Data model (MongoDB)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6324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3987E5"/>
                </a:solidFill>
                <a:latin typeface="Calibri"/>
              </a:rPr>
              <a:t>•  </a:t>
            </a:r>
            <a:r>
              <a:rPr sz="1300">
                <a:solidFill>
                  <a:srgbClr val="0B0B0B"/>
                </a:solidFill>
                <a:latin typeface="Calibri"/>
              </a:rPr>
              <a:t>Tenant → Users → Employees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3987E5"/>
                </a:solidFill>
                <a:latin typeface="Calibri"/>
              </a:rPr>
              <a:t>•  </a:t>
            </a:r>
            <a:r>
              <a:rPr sz="1300">
                <a:solidFill>
                  <a:srgbClr val="0B0B0B"/>
                </a:solidFill>
                <a:latin typeface="Calibri"/>
              </a:rPr>
              <a:t>Shifts (start/end, type, status)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3987E5"/>
                </a:solidFill>
                <a:latin typeface="Calibri"/>
              </a:rPr>
              <a:t>•  </a:t>
            </a:r>
            <a:r>
              <a:rPr sz="1300">
                <a:solidFill>
                  <a:srgbClr val="0B0B0B"/>
                </a:solidFill>
                <a:latin typeface="Calibri"/>
              </a:rPr>
              <a:t>Availability records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3987E5"/>
                </a:solidFill>
                <a:latin typeface="Calibri"/>
              </a:rPr>
              <a:t>•  </a:t>
            </a:r>
            <a:r>
              <a:rPr sz="1300">
                <a:solidFill>
                  <a:srgbClr val="0B0B0B"/>
                </a:solidFill>
                <a:latin typeface="Calibri"/>
              </a:rPr>
              <a:t>FatigueRule (per tenant)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3987E5"/>
                </a:solidFill>
                <a:latin typeface="Calibri"/>
              </a:rPr>
              <a:t>•  </a:t>
            </a:r>
            <a:r>
              <a:rPr sz="1300">
                <a:solidFill>
                  <a:srgbClr val="0B0B0B"/>
                </a:solidFill>
                <a:latin typeface="Calibri"/>
              </a:rPr>
              <a:t>FatigueAssessment (AI output log)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331720"/>
            <a:ext cx="3520440" cy="3657600"/>
          </a:xfrm>
          <a:prstGeom prst="rect">
            <a:avLst/>
          </a:prstGeom>
          <a:solidFill>
            <a:srgbClr val="F9F9F7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331720"/>
            <a:ext cx="3520440" cy="73152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5603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0B0B0B"/>
                </a:solidFill>
                <a:latin typeface="Calibri"/>
              </a:rPr>
              <a:t>Domain reference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06324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3987E5"/>
                </a:solidFill>
                <a:latin typeface="Calibri"/>
              </a:rPr>
              <a:t>•  </a:t>
            </a:r>
            <a:r>
              <a:rPr sz="1300">
                <a:solidFill>
                  <a:srgbClr val="0B0B0B"/>
                </a:solidFill>
                <a:latin typeface="Calibri"/>
              </a:rPr>
              <a:t>Min rest between shifts: 11h default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3987E5"/>
                </a:solidFill>
                <a:latin typeface="Calibri"/>
              </a:rPr>
              <a:t>•  </a:t>
            </a:r>
            <a:r>
              <a:rPr sz="1300">
                <a:solidFill>
                  <a:srgbClr val="0B0B0B"/>
                </a:solidFill>
                <a:latin typeface="Calibri"/>
              </a:rPr>
              <a:t>Max consecutive working days: 5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3987E5"/>
                </a:solidFill>
                <a:latin typeface="Calibri"/>
              </a:rPr>
              <a:t>•  </a:t>
            </a:r>
            <a:r>
              <a:rPr sz="1300">
                <a:solidFill>
                  <a:srgbClr val="0B0B0B"/>
                </a:solidFill>
                <a:latin typeface="Calibri"/>
              </a:rPr>
              <a:t>Max rolling 7-day hours: 48h (or the employee's own stricter cap)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3987E5"/>
                </a:solidFill>
                <a:latin typeface="Calibri"/>
              </a:rPr>
              <a:t>•  </a:t>
            </a:r>
            <a:r>
              <a:rPr sz="1300">
                <a:solidFill>
                  <a:srgbClr val="0B0B0B"/>
                </a:solidFill>
                <a:latin typeface="Calibri"/>
              </a:rPr>
              <a:t>Risk weight added per violated rule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3987E5"/>
                </a:solidFill>
                <a:latin typeface="Calibri"/>
              </a:rPr>
              <a:t>•  </a:t>
            </a:r>
            <a:r>
              <a:rPr sz="1300">
                <a:solidFill>
                  <a:srgbClr val="0B0B0B"/>
                </a:solidFill>
                <a:latin typeface="Calibri"/>
              </a:rPr>
              <a:t>Mirrors standard labor-safety rest guidance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2331720"/>
            <a:ext cx="3520440" cy="3657600"/>
          </a:xfrm>
          <a:prstGeom prst="rect">
            <a:avLst/>
          </a:prstGeom>
          <a:solidFill>
            <a:srgbClr val="F9F9F7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2331720"/>
            <a:ext cx="3520440" cy="73152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5603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0B0B0B"/>
                </a:solidFill>
                <a:latin typeface="Calibri"/>
              </a:rPr>
              <a:t>Demo / seed dataset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06324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3987E5"/>
                </a:solidFill>
                <a:latin typeface="Calibri"/>
              </a:rPr>
              <a:t>•  </a:t>
            </a:r>
            <a:r>
              <a:rPr sz="1300">
                <a:solidFill>
                  <a:srgbClr val="0B0B0B"/>
                </a:solidFill>
                <a:latin typeface="Calibri"/>
              </a:rPr>
              <a:t>Seeded demo tenant for testing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3987E5"/>
                </a:solidFill>
                <a:latin typeface="Calibri"/>
              </a:rPr>
              <a:t>•  </a:t>
            </a:r>
            <a:r>
              <a:rPr sz="1300">
                <a:solidFill>
                  <a:srgbClr val="0B0B0B"/>
                </a:solidFill>
                <a:latin typeface="Calibri"/>
              </a:rPr>
              <a:t>Sample employees across departments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3987E5"/>
                </a:solidFill>
                <a:latin typeface="Calibri"/>
              </a:rPr>
              <a:t>•  </a:t>
            </a:r>
            <a:r>
              <a:rPr sz="1300">
                <a:solidFill>
                  <a:srgbClr val="0B0B0B"/>
                </a:solidFill>
                <a:latin typeface="Calibri"/>
              </a:rPr>
              <a:t>Realistic shift patterns incl. violations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3987E5"/>
                </a:solidFill>
                <a:latin typeface="Calibri"/>
              </a:rPr>
              <a:t>•  </a:t>
            </a:r>
            <a:r>
              <a:rPr sz="1300">
                <a:solidFill>
                  <a:srgbClr val="0B0B0B"/>
                </a:solidFill>
                <a:latin typeface="Calibri"/>
              </a:rPr>
              <a:t>Used to validate every risk flag end-to-end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3987E5"/>
                </a:solidFill>
                <a:latin typeface="Calibri"/>
              </a:rPr>
              <a:t>•  </a:t>
            </a:r>
            <a:r>
              <a:rPr sz="1300">
                <a:solidFill>
                  <a:srgbClr val="0B0B0B"/>
                </a:solidFill>
                <a:latin typeface="Calibri"/>
              </a:rPr>
              <a:t>Same schema every new tenant gets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987E5"/>
                </a:solidFill>
                <a:latin typeface="Calibri"/>
              </a:rPr>
              <a:t>SYSTEM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From a shift edit to a reviewed risk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2011680" cy="38100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8007" y="2286000"/>
            <a:ext cx="1691640" cy="1554480"/>
          </a:xfrm>
          <a:prstGeom prst="rect">
            <a:avLst/>
          </a:prstGeom>
          <a:solidFill>
            <a:srgbClr val="F9F9F7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62659" y="2084832"/>
            <a:ext cx="402336" cy="402336"/>
          </a:xfrm>
          <a:prstGeom prst="ellipse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447" y="2450592"/>
            <a:ext cx="1508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 i="0">
                <a:solidFill>
                  <a:srgbClr val="0B0B0B"/>
                </a:solidFill>
                <a:latin typeface="Calibri"/>
              </a:rPr>
              <a:t>Manager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735" y="2907792"/>
            <a:ext cx="147218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 i="0">
                <a:solidFill>
                  <a:srgbClr val="52514E"/>
                </a:solidFill>
                <a:latin typeface="Calibri"/>
              </a:rPr>
              <a:t>Add / edit / delete a shift in the Shift Calendar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227935" y="2980944"/>
            <a:ext cx="164592" cy="164592"/>
          </a:xfrm>
          <a:prstGeom prst="rightArrow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410815" y="2286000"/>
            <a:ext cx="1691640" cy="1554480"/>
          </a:xfrm>
          <a:prstGeom prst="rect">
            <a:avLst/>
          </a:prstGeom>
          <a:solidFill>
            <a:srgbClr val="F9F9F7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055467" y="2084832"/>
            <a:ext cx="402336" cy="402336"/>
          </a:xfrm>
          <a:prstGeom prst="ellipse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2255" y="2450592"/>
            <a:ext cx="1508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 i="0">
                <a:solidFill>
                  <a:srgbClr val="0B0B0B"/>
                </a:solidFill>
                <a:latin typeface="Calibri"/>
              </a:rPr>
              <a:t>Tenant scoping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0543" y="2907792"/>
            <a:ext cx="147218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 i="0">
                <a:solidFill>
                  <a:srgbClr val="52514E"/>
                </a:solidFill>
                <a:latin typeface="Calibri"/>
              </a:rPr>
              <a:t>auth → tenantContext → roleGuard middleware chain scopes every query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20743" y="2980944"/>
            <a:ext cx="164592" cy="164592"/>
          </a:xfrm>
          <a:prstGeom prst="rightArrow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03623" y="2286000"/>
            <a:ext cx="1691640" cy="1554480"/>
          </a:xfrm>
          <a:prstGeom prst="rect">
            <a:avLst/>
          </a:prstGeom>
          <a:solidFill>
            <a:srgbClr val="F9F9F7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48275" y="2084832"/>
            <a:ext cx="402336" cy="402336"/>
          </a:xfrm>
          <a:prstGeom prst="ellipse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5063" y="2450592"/>
            <a:ext cx="1508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 i="0">
                <a:solidFill>
                  <a:srgbClr val="0B0B0B"/>
                </a:solidFill>
                <a:latin typeface="Calibri"/>
              </a:rPr>
              <a:t>Rule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3351" y="2907792"/>
            <a:ext cx="147218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 i="0">
                <a:solidFill>
                  <a:srgbClr val="52514E"/>
                </a:solidFill>
                <a:latin typeface="Calibri"/>
              </a:rPr>
              <a:t>FatigueEngine checks rest hours, overlaps, weekly hours, consecutive days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013551" y="2980944"/>
            <a:ext cx="164592" cy="164592"/>
          </a:xfrm>
          <a:prstGeom prst="rightArrow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6431" y="2286000"/>
            <a:ext cx="1691640" cy="1554480"/>
          </a:xfrm>
          <a:prstGeom prst="rect">
            <a:avLst/>
          </a:prstGeom>
          <a:solidFill>
            <a:srgbClr val="F9F9F7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41083" y="2084832"/>
            <a:ext cx="402336" cy="402336"/>
          </a:xfrm>
          <a:prstGeom prst="ellipse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7871" y="2450592"/>
            <a:ext cx="1508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 i="0">
                <a:solidFill>
                  <a:srgbClr val="0B0B0B"/>
                </a:solidFill>
                <a:latin typeface="Calibri"/>
              </a:rPr>
              <a:t>AI explainer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6159" y="2907792"/>
            <a:ext cx="147218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 i="0">
                <a:solidFill>
                  <a:srgbClr val="52514E"/>
                </a:solidFill>
                <a:latin typeface="Calibri"/>
              </a:rPr>
              <a:t>Claude turns the engine's flags into plain-English text + a suggestion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906359" y="2980944"/>
            <a:ext cx="164592" cy="164592"/>
          </a:xfrm>
          <a:prstGeom prst="rightArrow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89239" y="2286000"/>
            <a:ext cx="1691640" cy="1554480"/>
          </a:xfrm>
          <a:prstGeom prst="rect">
            <a:avLst/>
          </a:prstGeom>
          <a:solidFill>
            <a:srgbClr val="F9F9F7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3891" y="2084832"/>
            <a:ext cx="402336" cy="402336"/>
          </a:xfrm>
          <a:prstGeom prst="ellipse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0679" y="2450592"/>
            <a:ext cx="1508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 i="0">
                <a:solidFill>
                  <a:srgbClr val="0B0B0B"/>
                </a:solidFill>
                <a:latin typeface="Calibri"/>
              </a:rPr>
              <a:t>Auto re-check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8967" y="2907792"/>
            <a:ext cx="147218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 i="0">
                <a:solidFill>
                  <a:srgbClr val="52514E"/>
                </a:solidFill>
                <a:latin typeface="Calibri"/>
              </a:rPr>
              <a:t>Editing one shift invalidates &amp; re-assesses that employee's other shifts too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799167" y="2980944"/>
            <a:ext cx="164592" cy="164592"/>
          </a:xfrm>
          <a:prstGeom prst="rightArrow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82047" y="2286000"/>
            <a:ext cx="1691640" cy="1554480"/>
          </a:xfrm>
          <a:prstGeom prst="rect">
            <a:avLst/>
          </a:prstGeom>
          <a:solidFill>
            <a:srgbClr val="F9F9F7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626699" y="2084832"/>
            <a:ext cx="402336" cy="402336"/>
          </a:xfrm>
          <a:prstGeom prst="ellipse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73487" y="2450592"/>
            <a:ext cx="1508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 i="0">
                <a:solidFill>
                  <a:srgbClr val="0B0B0B"/>
                </a:solidFill>
                <a:latin typeface="Calibri"/>
              </a:rPr>
              <a:t>Manager 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91775" y="2907792"/>
            <a:ext cx="147218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 i="0">
                <a:solidFill>
                  <a:srgbClr val="52514E"/>
                </a:solidFill>
                <a:latin typeface="Calibri"/>
              </a:rPr>
              <a:t>Score + explanation surface in the Dashboard and Fatigue Report for sign-off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434840"/>
            <a:ext cx="10881360" cy="1691640"/>
          </a:xfrm>
          <a:prstGeom prst="rect">
            <a:avLst/>
          </a:prstGeom>
          <a:solidFill>
            <a:srgbClr val="F0EFEC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61772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3987E5"/>
                </a:solidFill>
                <a:latin typeface="Calibri"/>
              </a:rPr>
              <a:t>ARCHITECTURE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49834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3987E5"/>
                </a:solidFill>
                <a:latin typeface="Calibri"/>
              </a:rPr>
              <a:t>•  </a:t>
            </a:r>
            <a:r>
              <a:rPr sz="1350" b="1">
                <a:solidFill>
                  <a:srgbClr val="0B0B0B"/>
                </a:solidFill>
                <a:latin typeface="Calibri"/>
              </a:rPr>
              <a:t>MVC + service layer: </a:t>
            </a:r>
            <a:r>
              <a:rPr sz="1350" b="0">
                <a:solidFill>
                  <a:srgbClr val="0B0B0B"/>
                </a:solidFill>
                <a:latin typeface="Calibri"/>
              </a:rPr>
              <a:t>routes → middleware → controllers (HTTP only) → services (all business logic) → Mongoose models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3987E5"/>
                </a:solidFill>
                <a:latin typeface="Calibri"/>
              </a:rPr>
              <a:t>•  </a:t>
            </a:r>
            <a:r>
              <a:rPr sz="1350" b="1">
                <a:solidFill>
                  <a:srgbClr val="0B0B0B"/>
                </a:solidFill>
                <a:latin typeface="Calibri"/>
              </a:rPr>
              <a:t>Multi-tenant by design: </a:t>
            </a:r>
            <a:r>
              <a:rPr sz="1350" b="0">
                <a:solidFill>
                  <a:srgbClr val="0B0B0B"/>
                </a:solidFill>
                <a:latin typeface="Calibri"/>
              </a:rPr>
              <a:t>every tenant-scoped collection carries a tenantId; no query anywhere skips 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987E5"/>
                </a:solidFill>
                <a:latin typeface="Calibri"/>
              </a:rPr>
              <a:t>AI DESIGN &amp;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AI explains risk — it never invents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2011680" cy="38100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52514E"/>
                </a:solidFill>
                <a:latin typeface="Calibri"/>
              </a:rPr>
              <a:t>The core innovation: a hard split between deterministic scoring and generative explanation, so a hallucinated number can never reach a manager.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450" b="1">
                <a:solidFill>
                  <a:srgbClr val="3987E5"/>
                </a:solidFill>
                <a:latin typeface="Calibri"/>
              </a:rPr>
              <a:t>•  </a:t>
            </a:r>
            <a:r>
              <a:rPr sz="1450" b="1">
                <a:solidFill>
                  <a:srgbClr val="0B0B0B"/>
                </a:solidFill>
                <a:latin typeface="Calibri"/>
              </a:rPr>
              <a:t>Deterministic core: </a:t>
            </a:r>
            <a:r>
              <a:rPr sz="1450" b="0">
                <a:solidFill>
                  <a:srgbClr val="0B0B0B"/>
                </a:solidFill>
                <a:latin typeface="Calibri"/>
              </a:rPr>
              <a:t>FatigueEngine computes the risk score from fixed rules — auditable, reproducible, zero AI involvement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450" b="1">
                <a:solidFill>
                  <a:srgbClr val="3987E5"/>
                </a:solidFill>
                <a:latin typeface="Calibri"/>
              </a:rPr>
              <a:t>•  </a:t>
            </a:r>
            <a:r>
              <a:rPr sz="1450" b="1">
                <a:solidFill>
                  <a:srgbClr val="0B0B0B"/>
                </a:solidFill>
                <a:latin typeface="Calibri"/>
              </a:rPr>
              <a:t>LLM has one job: </a:t>
            </a:r>
            <a:r>
              <a:rPr sz="1450" b="0">
                <a:solidFill>
                  <a:srgbClr val="0B0B0B"/>
                </a:solidFill>
                <a:latin typeface="Calibri"/>
              </a:rPr>
              <a:t>Claude only turns the engine's flags into plain-English text + a suggested alternative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450" b="1">
                <a:solidFill>
                  <a:srgbClr val="3987E5"/>
                </a:solidFill>
                <a:latin typeface="Calibri"/>
              </a:rPr>
              <a:t>•  </a:t>
            </a:r>
            <a:r>
              <a:rPr sz="1450" b="1">
                <a:solidFill>
                  <a:srgbClr val="0B0B0B"/>
                </a:solidFill>
                <a:latin typeface="Calibri"/>
              </a:rPr>
              <a:t>Same input every time: </a:t>
            </a:r>
            <a:r>
              <a:rPr sz="1450" b="0">
                <a:solidFill>
                  <a:srgbClr val="0B0B0B"/>
                </a:solidFill>
                <a:latin typeface="Calibri"/>
              </a:rPr>
              <a:t>the model only ever sees the engine's own structured flags — never open-ended user text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450" b="1">
                <a:solidFill>
                  <a:srgbClr val="3987E5"/>
                </a:solidFill>
                <a:latin typeface="Calibri"/>
              </a:rPr>
              <a:t>•  </a:t>
            </a:r>
            <a:r>
              <a:rPr sz="1450" b="1">
                <a:solidFill>
                  <a:srgbClr val="0B0B0B"/>
                </a:solidFill>
                <a:latin typeface="Calibri"/>
              </a:rPr>
              <a:t>Runs in the background: </a:t>
            </a:r>
            <a:r>
              <a:rPr sz="1450" b="0">
                <a:solidFill>
                  <a:srgbClr val="0B0B0B"/>
                </a:solidFill>
                <a:latin typeface="Calibri"/>
              </a:rPr>
              <a:t>assessment never blocks the manager's workflow while it waits on the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645920"/>
            <a:ext cx="5486400" cy="4663440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0" y="1645920"/>
            <a:ext cx="5486400" cy="73152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883664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987E5"/>
                </a:solidFill>
                <a:latin typeface="Calibri"/>
              </a:rPr>
              <a:t>GUARDRAILS IN THE AI LAYER</a:t>
            </a:r>
          </a:p>
        </p:txBody>
      </p:sp>
      <p:sp>
        <p:nvSpPr>
          <p:cNvPr id="10" name="Oval 9"/>
          <p:cNvSpPr/>
          <p:nvPr/>
        </p:nvSpPr>
        <p:spPr>
          <a:xfrm>
            <a:off x="6355080" y="2441448"/>
            <a:ext cx="128016" cy="128016"/>
          </a:xfrm>
          <a:prstGeom prst="ellipse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350008"/>
            <a:ext cx="4526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No scoring authority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651760"/>
            <a:ext cx="4526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C3C2B7"/>
                </a:solidFill>
                <a:latin typeface="Calibri"/>
              </a:rPr>
              <a:t>AI never sets or influences the risk number</a:t>
            </a:r>
          </a:p>
        </p:txBody>
      </p:sp>
      <p:sp>
        <p:nvSpPr>
          <p:cNvPr id="13" name="Oval 12"/>
          <p:cNvSpPr/>
          <p:nvPr/>
        </p:nvSpPr>
        <p:spPr>
          <a:xfrm>
            <a:off x="6355080" y="3063240"/>
            <a:ext cx="128016" cy="128016"/>
          </a:xfrm>
          <a:prstGeom prst="ellipse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26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Fail-safe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273552"/>
            <a:ext cx="4526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C3C2B7"/>
                </a:solidFill>
                <a:latin typeface="Calibri"/>
              </a:rPr>
              <a:t>Falls back to a template if the AI is unavailable</a:t>
            </a:r>
          </a:p>
        </p:txBody>
      </p:sp>
      <p:sp>
        <p:nvSpPr>
          <p:cNvPr id="16" name="Oval 15"/>
          <p:cNvSpPr/>
          <p:nvPr/>
        </p:nvSpPr>
        <p:spPr>
          <a:xfrm>
            <a:off x="6355080" y="3685032"/>
            <a:ext cx="128016" cy="128016"/>
          </a:xfrm>
          <a:prstGeom prst="ellipse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593592"/>
            <a:ext cx="4526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Human-in-the-loop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95344"/>
            <a:ext cx="4526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C3C2B7"/>
                </a:solidFill>
                <a:latin typeface="Calibri"/>
              </a:rPr>
              <a:t>Every explanation is labeled for manager review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4306824"/>
            <a:ext cx="128016" cy="128016"/>
          </a:xfrm>
          <a:prstGeom prst="ellipse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215384"/>
            <a:ext cx="4526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Scoped input, no injection surface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517136"/>
            <a:ext cx="4526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C3C2B7"/>
                </a:solidFill>
                <a:latin typeface="Calibri"/>
              </a:rPr>
              <a:t>Model sees only engine flags — never raw user text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4928616"/>
            <a:ext cx="128016" cy="128016"/>
          </a:xfrm>
          <a:prstGeom prst="ellipse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37176"/>
            <a:ext cx="4526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Tenant isolation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5138928"/>
            <a:ext cx="4526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C3C2B7"/>
                </a:solidFill>
                <a:latin typeface="Calibri"/>
              </a:rPr>
              <a:t>Scoped by the same tenantId as every other query</a:t>
            </a:r>
          </a:p>
        </p:txBody>
      </p:sp>
      <p:sp>
        <p:nvSpPr>
          <p:cNvPr id="25" name="Oval 24"/>
          <p:cNvSpPr/>
          <p:nvPr/>
        </p:nvSpPr>
        <p:spPr>
          <a:xfrm>
            <a:off x="6355080" y="5550408"/>
            <a:ext cx="128016" cy="128016"/>
          </a:xfrm>
          <a:prstGeom prst="ellipse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5458968"/>
            <a:ext cx="4526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No duplicate / stale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5760720"/>
            <a:ext cx="4526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C3C2B7"/>
                </a:solidFill>
                <a:latin typeface="Calibri"/>
              </a:rPr>
              <a:t>Re-assessing a shift replaces its prior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987E5"/>
                </a:solidFill>
                <a:latin typeface="Calibri"/>
              </a:rPr>
              <a:t>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Live product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2011680" cy="38100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27" y="2433518"/>
            <a:ext cx="3611880" cy="2539603"/>
          </a:xfrm>
          <a:prstGeom prst="rect">
            <a:avLst/>
          </a:prstGeom>
          <a:ln w="12700">
            <a:solidFill>
              <a:srgbClr val="E1E0D9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49427" y="5082849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52514E"/>
                </a:solidFill>
                <a:latin typeface="Calibri"/>
              </a:rPr>
              <a:t>Analytics dashboard</a:t>
            </a:r>
          </a:p>
        </p:txBody>
      </p:sp>
      <p:pic>
        <p:nvPicPr>
          <p:cNvPr id="7" name="Picture 6" descr="shif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9907" y="2433518"/>
            <a:ext cx="3611880" cy="2539603"/>
          </a:xfrm>
          <a:prstGeom prst="rect">
            <a:avLst/>
          </a:prstGeom>
          <a:ln w="12700">
            <a:solidFill>
              <a:srgbClr val="E1E0D9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89907" y="5082849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52514E"/>
                </a:solidFill>
                <a:latin typeface="Calibri"/>
              </a:rPr>
              <a:t>Shift calendar + auto fatigue assessment</a:t>
            </a:r>
          </a:p>
        </p:txBody>
      </p:sp>
      <p:pic>
        <p:nvPicPr>
          <p:cNvPr id="9" name="Picture 8" descr="fatig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0387" y="2433518"/>
            <a:ext cx="3611880" cy="2539603"/>
          </a:xfrm>
          <a:prstGeom prst="rect">
            <a:avLst/>
          </a:prstGeom>
          <a:ln w="12700">
            <a:solidFill>
              <a:srgbClr val="E1E0D9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130387" y="5082849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52514E"/>
                </a:solidFill>
                <a:latin typeface="Calibri"/>
              </a:rPr>
              <a:t>Fatigue report &amp; employee risk history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987E5"/>
                </a:solidFill>
                <a:latin typeface="Calibri"/>
              </a:rPr>
              <a:t>SAMPLE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A real assessment produced by the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2011680" cy="38100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6400800" cy="4297680"/>
          </a:xfrm>
          <a:prstGeom prst="rect">
            <a:avLst/>
          </a:prstGeom>
          <a:solidFill>
            <a:srgbClr val="F9F9F7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92024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HIGH · 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947672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Asha Nurse — Wed, Jul 08 shift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5852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3987E5"/>
                </a:solidFill>
                <a:latin typeface="Calibri"/>
              </a:rPr>
              <a:t>ENGINE FLAGS (deterministic)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3987E5"/>
                </a:solidFill>
                <a:latin typeface="Calibri"/>
              </a:rPr>
              <a:t>•  </a:t>
            </a:r>
            <a:r>
              <a:rPr sz="1350">
                <a:solidFill>
                  <a:srgbClr val="0B0B0B"/>
                </a:solidFill>
                <a:latin typeface="Calibri"/>
              </a:rPr>
              <a:t>Only 6.0h rest before this shift (minimum is 11h)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3987E5"/>
                </a:solidFill>
                <a:latin typeface="Calibri"/>
              </a:rPr>
              <a:t>•  </a:t>
            </a:r>
            <a:r>
              <a:rPr sz="1350">
                <a:solidFill>
                  <a:srgbClr val="0B0B0B"/>
                </a:solidFill>
                <a:latin typeface="Calibri"/>
              </a:rPr>
              <a:t>47.0h worked in the last 7 days (maximum is 40h)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5852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3987E5"/>
                </a:solidFill>
                <a:latin typeface="Calibri"/>
              </a:rPr>
              <a:t>AI EXPLANATION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5852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2514E"/>
                </a:solidFill>
                <a:latin typeface="Calibri"/>
              </a:rPr>
              <a:t>“Asha Nurse's shift is rated HIGH risk (score 50/100) because: Only 6.0h rest before this shift (minimum is 11h). 47.0h worked in the last 7 days (maximum is 40h).”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92040"/>
            <a:ext cx="5852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3987E5"/>
                </a:solidFill>
                <a:latin typeface="Calibri"/>
              </a:rPr>
              <a:t>SUGGESTED ALTERNATIVE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212080"/>
            <a:ext cx="5852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Move the shift later, assign it to another available employee, or add a rest day so all rules pass.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1691640"/>
            <a:ext cx="4206240" cy="4297680"/>
          </a:xfrm>
          <a:prstGeom prst="rect">
            <a:avLst/>
          </a:prstGeom>
          <a:solidFill>
            <a:srgbClr val="F9F9F7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3987E5"/>
                </a:solidFill>
                <a:latin typeface="Calibri"/>
              </a:rPr>
              <a:t>DEMO TENANT SNAPSHOT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37744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400" b="1">
                <a:solidFill>
                  <a:srgbClr val="3987E5"/>
                </a:solidFill>
                <a:latin typeface="Calibri"/>
              </a:rPr>
              <a:t>•  </a:t>
            </a:r>
            <a:r>
              <a:rPr sz="1400" b="1">
                <a:solidFill>
                  <a:srgbClr val="0B0B0B"/>
                </a:solidFill>
                <a:latin typeface="Calibri"/>
              </a:rPr>
              <a:t>7 low </a:t>
            </a:r>
            <a:r>
              <a:rPr sz="1400" b="0">
                <a:solidFill>
                  <a:srgbClr val="0B0B0B"/>
                </a:solidFill>
                <a:latin typeface="Calibri"/>
              </a:rPr>
              <a:t>risk assessments — no rule violations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400" b="1">
                <a:solidFill>
                  <a:srgbClr val="3987E5"/>
                </a:solidFill>
                <a:latin typeface="Calibri"/>
              </a:rPr>
              <a:t>•  </a:t>
            </a:r>
            <a:r>
              <a:rPr sz="1400" b="1">
                <a:solidFill>
                  <a:srgbClr val="0B0B0B"/>
                </a:solidFill>
                <a:latin typeface="Calibri"/>
              </a:rPr>
              <a:t>0 medium </a:t>
            </a:r>
            <a:r>
              <a:rPr sz="1400" b="0">
                <a:solidFill>
                  <a:srgbClr val="0B0B0B"/>
                </a:solidFill>
                <a:latin typeface="Calibri"/>
              </a:rPr>
              <a:t>risk assessments in this snapshot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400" b="1">
                <a:solidFill>
                  <a:srgbClr val="3987E5"/>
                </a:solidFill>
                <a:latin typeface="Calibri"/>
              </a:rPr>
              <a:t>•  </a:t>
            </a:r>
            <a:r>
              <a:rPr sz="1400" b="1">
                <a:solidFill>
                  <a:srgbClr val="0B0B0B"/>
                </a:solidFill>
                <a:latin typeface="Calibri"/>
              </a:rPr>
              <a:t>1 high </a:t>
            </a:r>
            <a:r>
              <a:rPr sz="1400" b="0">
                <a:solidFill>
                  <a:srgbClr val="0B0B0B"/>
                </a:solidFill>
                <a:latin typeface="Calibri"/>
              </a:rPr>
              <a:t>risk assessment — flagged automatically, no manual click required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400" b="1">
                <a:solidFill>
                  <a:srgbClr val="3987E5"/>
                </a:solidFill>
                <a:latin typeface="Calibri"/>
              </a:rPr>
              <a:t>•  </a:t>
            </a:r>
            <a:r>
              <a:rPr sz="1400" b="1">
                <a:solidFill>
                  <a:srgbClr val="0B0B0B"/>
                </a:solidFill>
                <a:latin typeface="Calibri"/>
              </a:rPr>
              <a:t>8 shifts </a:t>
            </a:r>
            <a:r>
              <a:rPr sz="1400" b="0">
                <a:solidFill>
                  <a:srgbClr val="0B0B0B"/>
                </a:solidFill>
                <a:latin typeface="Calibri"/>
              </a:rPr>
              <a:t>across 4 employees, reassessed automatically on every add/edit/delete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987E5"/>
                </a:solidFill>
                <a:latin typeface="Calibr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Where this system should not be trusted blindly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2011680" cy="38100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00" b="1">
                <a:solidFill>
                  <a:srgbClr val="3987E5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Not a medical or occupational-health judgment. </a:t>
            </a:r>
            <a:r>
              <a:rPr sz="1600" b="0">
                <a:solidFill>
                  <a:srgbClr val="0B0B0B"/>
                </a:solidFill>
                <a:latin typeface="Calibri"/>
              </a:rPr>
              <a:t>Rule-based fatigue scoring is a scheduling safeguard, not a substitute for clinical or HR expertise.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00" b="1">
                <a:solidFill>
                  <a:srgbClr val="3987E5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AI suggestions require sign-off. </a:t>
            </a:r>
            <a:r>
              <a:rPr sz="1600" b="0">
                <a:solidFill>
                  <a:srgbClr val="0B0B0B"/>
                </a:solidFill>
                <a:latin typeface="Calibri"/>
              </a:rPr>
              <a:t>Every AI-generated explanation and alternative must be reviewed by a human manager before being acted 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00" b="1">
                <a:solidFill>
                  <a:srgbClr val="3987E5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App-layer tenant isolation. </a:t>
            </a:r>
            <a:r>
              <a:rPr sz="1600" b="0">
                <a:solidFill>
                  <a:srgbClr val="0B0B0B"/>
                </a:solidFill>
                <a:latin typeface="Calibri"/>
              </a:rPr>
              <a:t>Isolation is enforced by tenantId filtering in code today; a production deployment handling sensitive HR data should add encryption at rest and regular security audits.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00" b="1">
                <a:solidFill>
                  <a:srgbClr val="3987E5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Demo-mode billing. </a:t>
            </a:r>
            <a:r>
              <a:rPr sz="1600" b="0">
                <a:solidFill>
                  <a:srgbClr val="0B0B0B"/>
                </a:solidFill>
                <a:latin typeface="Calibri"/>
              </a:rPr>
              <a:t>Without live payment-gateway keys, Razorpay/PayPal flows run in demo mode — not yet wired to a production billing provider.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00" b="1">
                <a:solidFill>
                  <a:srgbClr val="3987E5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One fixed rule set per tenant. </a:t>
            </a:r>
            <a:r>
              <a:rPr sz="1600" b="0">
                <a:solidFill>
                  <a:srgbClr val="0B0B0B"/>
                </a:solidFill>
                <a:latin typeface="Calibri"/>
              </a:rPr>
              <a:t>Fatigue thresholds are configurable in the data model but have no admin UI yet — a future-improvements item, not a current feature.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987E5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Future improvements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2011680" cy="38100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257800" cy="1325880"/>
          </a:xfrm>
          <a:prstGeom prst="rect">
            <a:avLst/>
          </a:prstGeom>
          <a:solidFill>
            <a:srgbClr val="F9F9F7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1325880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0B0B"/>
                </a:solidFill>
                <a:latin typeface="Calibri"/>
              </a:rPr>
              <a:t>Custom rule configuration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40280"/>
            <a:ext cx="4709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52514E"/>
                </a:solidFill>
                <a:latin typeface="Calibri"/>
              </a:rPr>
              <a:t>Let each tenant tune rest-hour minimums, weekly caps, and consecutive-day limits themselves.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737360"/>
            <a:ext cx="5257800" cy="1325880"/>
          </a:xfrm>
          <a:prstGeom prst="rect">
            <a:avLst/>
          </a:prstGeom>
          <a:solidFill>
            <a:srgbClr val="F9F9F7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737360"/>
            <a:ext cx="73152" cy="1325880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7452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0B0B"/>
                </a:solidFill>
                <a:latin typeface="Calibri"/>
              </a:rPr>
              <a:t>Cross-tenant analytics for superadmins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240280"/>
            <a:ext cx="4709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52514E"/>
                </a:solidFill>
                <a:latin typeface="Calibri"/>
              </a:rPr>
              <a:t>Roll up risk trends across every organization on the platform, not just one tenant at a time.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46120"/>
            <a:ext cx="5257800" cy="1325880"/>
          </a:xfrm>
          <a:prstGeom prst="rect">
            <a:avLst/>
          </a:prstGeom>
          <a:solidFill>
            <a:srgbClr val="F9F9F7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73152" cy="1325880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38328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0B0B"/>
                </a:solidFill>
                <a:latin typeface="Calibri"/>
              </a:rPr>
              <a:t>Push/email alerts on high-risk assignment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749040"/>
            <a:ext cx="4709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52514E"/>
                </a:solidFill>
                <a:latin typeface="Calibri"/>
              </a:rPr>
              <a:t>Notify a manager the moment a newly created shift is auto-assessed as high risk.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246120"/>
            <a:ext cx="5257800" cy="1325880"/>
          </a:xfrm>
          <a:prstGeom prst="rect">
            <a:avLst/>
          </a:prstGeom>
          <a:solidFill>
            <a:srgbClr val="F9F9F7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3246120"/>
            <a:ext cx="73152" cy="1325880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38328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0B0B"/>
                </a:solidFill>
                <a:latin typeface="Calibri"/>
              </a:rPr>
              <a:t>Employee-initiated shift swaps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749040"/>
            <a:ext cx="4709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52514E"/>
                </a:solidFill>
                <a:latin typeface="Calibri"/>
              </a:rPr>
              <a:t>A request/approval workflow so employees can trade shifts without a manager re-typing the schedule.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754880"/>
            <a:ext cx="5257800" cy="1325880"/>
          </a:xfrm>
          <a:prstGeom prst="rect">
            <a:avLst/>
          </a:prstGeom>
          <a:solidFill>
            <a:srgbClr val="F9F9F7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754880"/>
            <a:ext cx="73152" cy="1325880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9204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0B0B"/>
                </a:solidFill>
                <a:latin typeface="Calibri"/>
              </a:rPr>
              <a:t>AI-layer audit logging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57800"/>
            <a:ext cx="4709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52514E"/>
                </a:solidFill>
                <a:latin typeface="Calibri"/>
              </a:rPr>
              <a:t>Log every explanation shown to a manager, with rate limiting, as an additional guardrail at scale.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3987E5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Safer schedules, built on rules you can audit — not a black 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700" b="1">
                <a:solidFill>
                  <a:srgbClr val="3987E5"/>
                </a:solidFill>
                <a:latin typeface="Calibri"/>
              </a:rPr>
              <a:t>•  </a:t>
            </a:r>
            <a:r>
              <a:rPr sz="1700">
                <a:solidFill>
                  <a:srgbClr val="FFFFFF"/>
                </a:solidFill>
                <a:latin typeface="Calibri"/>
              </a:rPr>
              <a:t>A working multi-tenant SaaS platform, built in 10 days, that turns fatigue risk from a blind spot into a visible, explained, and reviewable number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700" b="1">
                <a:solidFill>
                  <a:srgbClr val="3987E5"/>
                </a:solidFill>
                <a:latin typeface="Calibri"/>
              </a:rPr>
              <a:t>•  </a:t>
            </a:r>
            <a:r>
              <a:rPr sz="1700">
                <a:solidFill>
                  <a:srgbClr val="FFFFFF"/>
                </a:solidFill>
                <a:latin typeface="Calibri"/>
              </a:rPr>
              <a:t>Deterministic rule engine for the score, AI strictly for explanation — with guardrails at every step so the model can never hallucinate a safety-critical number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700" b="1">
                <a:solidFill>
                  <a:srgbClr val="3987E5"/>
                </a:solidFill>
                <a:latin typeface="Calibri"/>
              </a:rPr>
              <a:t>•  </a:t>
            </a:r>
            <a:r>
              <a:rPr sz="1700">
                <a:solidFill>
                  <a:srgbClr val="FFFFFF"/>
                </a:solidFill>
                <a:latin typeface="Calibri"/>
              </a:rPr>
              <a:t>Automatic, always-current re-assessment: edit one shift, and every affected shift for that employee is quietly re-checked in the background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700" b="1">
                <a:solidFill>
                  <a:srgbClr val="3987E5"/>
                </a:solidFill>
                <a:latin typeface="Calibri"/>
              </a:rPr>
              <a:t>•  </a:t>
            </a:r>
            <a:r>
              <a:rPr sz="1700">
                <a:solidFill>
                  <a:srgbClr val="FFFFFF"/>
                </a:solidFill>
                <a:latin typeface="Calibri"/>
              </a:rPr>
              <a:t>Designed to extend: per-tenant rule tuning, cross-tenant analytics, and notification workflows are the clear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893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C3C2B7"/>
                </a:solidFill>
                <a:latin typeface="Calibri"/>
              </a:rPr>
              <a:t>Thank you — questions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