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 snapToObjects="1">
      <p:cViewPr varScale="1">
        <p:scale>
          <a:sx n="111" d="100"/>
          <a:sy n="111" d="100"/>
        </p:scale>
        <p:origin x="232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987E5"/>
                </a:solidFill>
                <a:latin typeface="Calibri"/>
              </a:rPr>
              <a:t>PROJECT 15  ·  SDAI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Workforce Shift Planning &amp;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Fatigue Risk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3C2B7"/>
                </a:solidFill>
                <a:latin typeface="Calibri"/>
              </a:rPr>
              <a:t>A multi-tenant scheduling platform with rule-based fatigue scoring and an AI explanation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617720"/>
            <a:ext cx="2011680" cy="254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987E5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Ayushman Singh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Raju Sutradhar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Aryan Kumar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Devansh Saxena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Ambika Darare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800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987E5"/>
                </a:solidFill>
                <a:latin typeface="Calibri"/>
              </a:rPr>
              <a:t>DURATION &amp;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1663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10-day build sprint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Domain: workforce safety &amp; scheduling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Stack: React · Node/Express ·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Manual shift scheduling is blind to fatigue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3987E5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Spreadsheets don't check rest hours. </a:t>
            </a:r>
            <a:r>
              <a:rPr sz="1650" b="0">
                <a:solidFill>
                  <a:srgbClr val="0B0B0B"/>
                </a:solidFill>
                <a:latin typeface="Calibri"/>
              </a:rPr>
              <a:t>Managers assign shifts by availability alone — nothing flags that an employee has only 4 hours of rest before their next shift.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3987E5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Overtime stacks invisibly. </a:t>
            </a:r>
            <a:r>
              <a:rPr sz="1650" b="0">
                <a:solidFill>
                  <a:srgbClr val="0B0B0B"/>
                </a:solidFill>
                <a:latin typeface="Calibri"/>
              </a:rPr>
              <a:t>Weekly-hour caps and consecutive-day limits are easy to lose track of across dozens of employees and rotating shifts.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3987E5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Fatigue is a safety issue, not a preference. </a:t>
            </a:r>
            <a:r>
              <a:rPr sz="1650" b="0">
                <a:solidFill>
                  <a:srgbClr val="0B0B0B"/>
                </a:solidFill>
                <a:latin typeface="Calibri"/>
              </a:rPr>
              <a:t>In healthcare, security, and logistics, fatigued staff drive real incident rates — medical errors, accidents, and near-misses correlate directly with insufficient rest.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3987E5"/>
                </a:solidFill>
                <a:latin typeface="Calibri"/>
              </a:rPr>
              <a:t>•  </a:t>
            </a:r>
            <a:r>
              <a:rPr sz="1650" b="1">
                <a:solidFill>
                  <a:srgbClr val="0B0B0B"/>
                </a:solidFill>
                <a:latin typeface="Calibri"/>
              </a:rPr>
              <a:t>No audit trail. </a:t>
            </a:r>
            <a:r>
              <a:rPr sz="1650" b="0">
                <a:solidFill>
                  <a:srgbClr val="0B0B0B"/>
                </a:solidFill>
                <a:latin typeface="Calibri"/>
              </a:rPr>
              <a:t>When an incident does happen, there's usually no record of whether the schedule that caused it was ever flagged as risky.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691640"/>
            <a:ext cx="4754880" cy="42976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987E5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3172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•  </a:t>
            </a:r>
            <a:r>
              <a:rPr sz="1500">
                <a:solidFill>
                  <a:srgbClr val="0B0B0B"/>
                </a:solidFill>
                <a:latin typeface="Calibri"/>
              </a:rPr>
              <a:t>Regulatory rest-hour requirements exist across healthcare, transport, and industrial shift 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•  </a:t>
            </a:r>
            <a:r>
              <a:rPr sz="1500">
                <a:solidFill>
                  <a:srgbClr val="0B0B0B"/>
                </a:solidFill>
                <a:latin typeface="Calibri"/>
              </a:rPr>
              <a:t>Fatigue-related incidents carry direct cost: liability, turnover, lost productivity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•  </a:t>
            </a:r>
            <a:r>
              <a:rPr sz="1500">
                <a:solidFill>
                  <a:srgbClr val="0B0B0B"/>
                </a:solidFill>
                <a:latin typeface="Calibri"/>
              </a:rPr>
              <a:t>Multi-location organizations can't manually cross-check every employee's rolling 7-day workload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3987E5"/>
                </a:solidFill>
                <a:latin typeface="Calibri"/>
              </a:rPr>
              <a:t>•  </a:t>
            </a:r>
            <a:r>
              <a:rPr sz="1500">
                <a:solidFill>
                  <a:srgbClr val="0B0B0B"/>
                </a:solidFill>
                <a:latin typeface="Calibri"/>
              </a:rPr>
              <a:t>A system that catches this before publishing the schedule — not after an incident — is the actual product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DATA &amp; DOMAIN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What the system is built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45336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1" dirty="0">
                <a:solidFill>
                  <a:srgbClr val="52514E"/>
                </a:solidFill>
                <a:latin typeface="Calibri"/>
              </a:rPr>
              <a:t>This isn't a trained ML model — it's a rule engine over a real operational data model, plus an LLM used only for language, never for scoring.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520440" cy="36576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520440" cy="7315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Data model (MongoDB)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Tenant → Users → Employees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Shifts (start/end, type, status)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Availability records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FatigueRule (per tenant)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FatigueAssessment (AI output log)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31720"/>
            <a:ext cx="3520440" cy="36576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31720"/>
            <a:ext cx="3520440" cy="7315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560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Domain reference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Min rest between shifts: 11h default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Max consecutive working days: 5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Max rolling 7-day hours: 48h (or the employee's own stricter cap)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Risk weight added per violated rule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Mirrors standard labor-safety rest guidance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331720"/>
            <a:ext cx="3520440" cy="365760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331720"/>
            <a:ext cx="3520440" cy="7315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Demo / seed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6324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Seeded demo tenant for testing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Sample employees across departments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Realistic shift patterns incl. violations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Used to validate every risk flag end-to-end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3987E5"/>
                </a:solidFill>
                <a:latin typeface="Calibri"/>
              </a:rPr>
              <a:t>•  </a:t>
            </a:r>
            <a:r>
              <a:rPr sz="1300">
                <a:solidFill>
                  <a:srgbClr val="0B0B0B"/>
                </a:solidFill>
                <a:latin typeface="Calibri"/>
              </a:rPr>
              <a:t>Same schema every new tenant 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B57CDD-F6E5-526A-6205-BB898AD9919C}"/>
              </a:ext>
            </a:extLst>
          </p:cNvPr>
          <p:cNvSpPr txBox="1"/>
          <p:nvPr/>
        </p:nvSpPr>
        <p:spPr>
          <a:xfrm>
            <a:off x="640080" y="1796796"/>
            <a:ext cx="10881360" cy="315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50" b="0" i="1" dirty="0">
                <a:solidFill>
                  <a:srgbClr val="52514E"/>
                </a:solidFill>
                <a:latin typeface="Calibri"/>
              </a:rPr>
              <a:t>Tech Stack :  React with Tailwind for Frontend, </a:t>
            </a:r>
            <a:r>
              <a:rPr lang="en-US" sz="1450" b="0" i="1" dirty="0" err="1">
                <a:solidFill>
                  <a:srgbClr val="52514E"/>
                </a:solidFill>
                <a:latin typeface="Calibri"/>
              </a:rPr>
              <a:t>Express.js</a:t>
            </a:r>
            <a:r>
              <a:rPr lang="en-US" sz="1450" b="0" i="1" dirty="0">
                <a:solidFill>
                  <a:srgbClr val="52514E"/>
                </a:solidFill>
                <a:latin typeface="Calibri"/>
              </a:rPr>
              <a:t> in Backend, Mongo </a:t>
            </a:r>
            <a:r>
              <a:rPr lang="en-US" sz="1450" i="1" dirty="0">
                <a:solidFill>
                  <a:srgbClr val="52514E"/>
                </a:solidFill>
                <a:latin typeface="Calibri"/>
              </a:rPr>
              <a:t>as Database, JWT Token for Authentication etc. </a:t>
            </a:r>
            <a:endParaRPr sz="1450" b="0" i="1" dirty="0">
              <a:solidFill>
                <a:srgbClr val="52514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From a shift edit to a reviewed risk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659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Manager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Add / edit / delete a shift in the Shift Calendar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27935" y="2980944"/>
            <a:ext cx="164592" cy="164592"/>
          </a:xfrm>
          <a:prstGeom prst="rightArrow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10815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55467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255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Tenant scoping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543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auth → tenantContext → roleGuard middleware chain scopes every query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20743" y="2980944"/>
            <a:ext cx="164592" cy="164592"/>
          </a:xfrm>
          <a:prstGeom prst="rightArrow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3623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48275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5063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Rule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351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FatigueEngine checks rest hours, overlaps, weekly hours, consecutive days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13551" y="2980944"/>
            <a:ext cx="164592" cy="164592"/>
          </a:xfrm>
          <a:prstGeom prst="rightArrow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6431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41083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7871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AI explainer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6159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Claude turns the engine's flags into plain-English text + a suggestion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6359" y="2980944"/>
            <a:ext cx="164592" cy="164592"/>
          </a:xfrm>
          <a:prstGeom prst="rightArrow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89239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33891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0679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Auto re-check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8967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Editing one shift invalidates &amp; re-assesses that employee's other shifts too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9167" y="2980944"/>
            <a:ext cx="164592" cy="164592"/>
          </a:xfrm>
          <a:prstGeom prst="rightArrow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82047" y="2286000"/>
            <a:ext cx="1691640" cy="15544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26699" y="2084832"/>
            <a:ext cx="402336" cy="402336"/>
          </a:xfrm>
          <a:prstGeom prst="ellipse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3487" y="245059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Manager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1775" y="2907792"/>
            <a:ext cx="147218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2514E"/>
                </a:solidFill>
                <a:latin typeface="Calibri"/>
              </a:rPr>
              <a:t>Score + explanation surface in the Dashboard and Fatigue Report for sign-off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34840"/>
            <a:ext cx="10881360" cy="1691640"/>
          </a:xfrm>
          <a:prstGeom prst="rect">
            <a:avLst/>
          </a:prstGeom>
          <a:solidFill>
            <a:srgbClr val="F0EFEC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987E5"/>
                </a:solidFill>
                <a:latin typeface="Calibri"/>
              </a:rPr>
              <a:t>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87E5"/>
                </a:solidFill>
                <a:latin typeface="Calibri"/>
              </a:rPr>
              <a:t>•  </a:t>
            </a:r>
            <a:r>
              <a:rPr sz="1350" b="1">
                <a:solidFill>
                  <a:srgbClr val="0B0B0B"/>
                </a:solidFill>
                <a:latin typeface="Calibri"/>
              </a:rPr>
              <a:t>MVC + service layer: </a:t>
            </a:r>
            <a:r>
              <a:rPr sz="1350" b="0">
                <a:solidFill>
                  <a:srgbClr val="0B0B0B"/>
                </a:solidFill>
                <a:latin typeface="Calibri"/>
              </a:rPr>
              <a:t>routes → middleware → controllers (HTTP only) → services (all business logic) → Mongoose models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87E5"/>
                </a:solidFill>
                <a:latin typeface="Calibri"/>
              </a:rPr>
              <a:t>•  </a:t>
            </a:r>
            <a:r>
              <a:rPr sz="1350" b="1">
                <a:solidFill>
                  <a:srgbClr val="0B0B0B"/>
                </a:solidFill>
                <a:latin typeface="Calibri"/>
              </a:rPr>
              <a:t>Multi-tenant by design: </a:t>
            </a:r>
            <a:r>
              <a:rPr sz="1350" b="0">
                <a:solidFill>
                  <a:srgbClr val="0B0B0B"/>
                </a:solidFill>
                <a:latin typeface="Calibri"/>
              </a:rPr>
              <a:t>every tenant-scoped collection carries a tenantId; no query anywhere skips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AI DESIGN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AI explains risk — it never invents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2514E"/>
                </a:solidFill>
                <a:latin typeface="Calibri"/>
              </a:rPr>
              <a:t>The core innovation: a hard split between deterministic scoring and generative explanation, so a hallucinated number can never reach a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3987E5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Deterministic core: </a:t>
            </a:r>
            <a:r>
              <a:rPr sz="1450" b="0">
                <a:solidFill>
                  <a:srgbClr val="0B0B0B"/>
                </a:solidFill>
                <a:latin typeface="Calibri"/>
              </a:rPr>
              <a:t>FatigueEngine computes the risk score from fixed rules — auditable, reproducible, zero AI involvement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3987E5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LLM has one job: </a:t>
            </a:r>
            <a:r>
              <a:rPr sz="1450" b="0">
                <a:solidFill>
                  <a:srgbClr val="0B0B0B"/>
                </a:solidFill>
                <a:latin typeface="Calibri"/>
              </a:rPr>
              <a:t>Claude only turns the engine's flags into plain-English text + a suggested alternative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3987E5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Same input every time: </a:t>
            </a:r>
            <a:r>
              <a:rPr sz="1450" b="0">
                <a:solidFill>
                  <a:srgbClr val="0B0B0B"/>
                </a:solidFill>
                <a:latin typeface="Calibri"/>
              </a:rPr>
              <a:t>the model only ever sees the engine's own structured flags — never open-ended user text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3987E5"/>
                </a:solidFill>
                <a:latin typeface="Calibri"/>
              </a:rPr>
              <a:t>•  </a:t>
            </a:r>
            <a:r>
              <a:rPr sz="1450" b="1">
                <a:solidFill>
                  <a:srgbClr val="0B0B0B"/>
                </a:solidFill>
                <a:latin typeface="Calibri"/>
              </a:rPr>
              <a:t>Runs in the background: </a:t>
            </a:r>
            <a:r>
              <a:rPr sz="1450" b="0">
                <a:solidFill>
                  <a:srgbClr val="0B0B0B"/>
                </a:solidFill>
                <a:latin typeface="Calibri"/>
              </a:rPr>
              <a:t>assessment never blocks the manager's workflow while it waits on the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663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5486400" cy="73152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83664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GUARDRAILS IN THE AI LAYER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24414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350008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scoring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5176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AI never sets or influences the risk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063240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Fail-safe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73552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Falls back to a template if the AI is unavailable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68503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593592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9534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Every explanation is labeled for manager review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4306824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215384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Scoped input, no injection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17136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Model sees only engine flags — never raw user text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928616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837176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Tenant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38928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Scoped by the same tenantId as every other query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555040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5458968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duplicate / stale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76072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3C2B7"/>
                </a:solidFill>
                <a:latin typeface="Calibri"/>
              </a:rPr>
              <a:t>Re-assessing a shift replaces its prior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Live product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" y="2433518"/>
            <a:ext cx="3611880" cy="2539603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49427" y="5082849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52514E"/>
                </a:solidFill>
                <a:latin typeface="Calibri"/>
              </a:rPr>
              <a:t>Analytics dashboard</a:t>
            </a:r>
          </a:p>
        </p:txBody>
      </p:sp>
      <p:pic>
        <p:nvPicPr>
          <p:cNvPr id="7" name="Picture 6" descr="shif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7" y="2433518"/>
            <a:ext cx="3611880" cy="2539603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89907" y="5082849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52514E"/>
                </a:solidFill>
                <a:latin typeface="Calibri"/>
              </a:rPr>
              <a:t>Shift calendar + auto fatigue assessment</a:t>
            </a:r>
          </a:p>
        </p:txBody>
      </p:sp>
      <p:pic>
        <p:nvPicPr>
          <p:cNvPr id="9" name="Picture 8" descr="fatig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7" y="2433518"/>
            <a:ext cx="3611880" cy="2539603"/>
          </a:xfrm>
          <a:prstGeom prst="rect">
            <a:avLst/>
          </a:prstGeom>
          <a:ln w="12700">
            <a:solidFill>
              <a:srgbClr val="E1E0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130387" y="5082849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52514E"/>
                </a:solidFill>
                <a:latin typeface="Calibri"/>
              </a:rPr>
              <a:t>Fatigue report &amp; employee risk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A real assessment produced by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6400800" cy="42976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25400" rIns="508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 ·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4767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0B0B"/>
                </a:solidFill>
                <a:latin typeface="Calibri"/>
              </a:rPr>
              <a:t>Asha Nurse — Wed, Jul 08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ENGINE FLAGS (deterministic)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987E5"/>
                </a:solidFill>
                <a:latin typeface="Calibri"/>
              </a:rPr>
              <a:t>•  </a:t>
            </a:r>
            <a:r>
              <a:rPr sz="1350">
                <a:solidFill>
                  <a:srgbClr val="0B0B0B"/>
                </a:solidFill>
                <a:latin typeface="Calibri"/>
              </a:rPr>
              <a:t>Only 6.0h rest before this shift (minimum is 11h)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987E5"/>
                </a:solidFill>
                <a:latin typeface="Calibri"/>
              </a:rPr>
              <a:t>•  </a:t>
            </a:r>
            <a:r>
              <a:rPr sz="1350">
                <a:solidFill>
                  <a:srgbClr val="0B0B0B"/>
                </a:solidFill>
                <a:latin typeface="Calibri"/>
              </a:rPr>
              <a:t>47.0h worked in the last 7 days (maximum is 40h)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AI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2514E"/>
                </a:solidFill>
                <a:latin typeface="Calibri"/>
              </a:rPr>
              <a:t>“Asha Nurse's shift is rated HIGH risk (score 50/100) because: Only 6.0h rest before this shift (minimum is 11h). 47.0h worked in the last 7 days (maximum is 40h).”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SUGGESTED ALTERNATIVE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Move the shift later, assign it to another available employee, or add a rest day so all rules pass.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91640"/>
            <a:ext cx="4206240" cy="42976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987E5"/>
                </a:solidFill>
                <a:latin typeface="Calibri"/>
              </a:rPr>
              <a:t>DEMO TENANT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377440"/>
            <a:ext cx="3657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3987E5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7 low </a:t>
            </a:r>
            <a:r>
              <a:rPr sz="1400" b="0">
                <a:solidFill>
                  <a:srgbClr val="0B0B0B"/>
                </a:solidFill>
                <a:latin typeface="Calibri"/>
              </a:rPr>
              <a:t>risk assessments — no rule violations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3987E5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0 medium </a:t>
            </a:r>
            <a:r>
              <a:rPr sz="1400" b="0">
                <a:solidFill>
                  <a:srgbClr val="0B0B0B"/>
                </a:solidFill>
                <a:latin typeface="Calibri"/>
              </a:rPr>
              <a:t>risk assessments in this snapshot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3987E5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1 high </a:t>
            </a:r>
            <a:r>
              <a:rPr sz="1400" b="0">
                <a:solidFill>
                  <a:srgbClr val="0B0B0B"/>
                </a:solidFill>
                <a:latin typeface="Calibri"/>
              </a:rPr>
              <a:t>risk assessment — flagged automatically, no manual click required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3987E5"/>
                </a:solidFill>
                <a:latin typeface="Calibri"/>
              </a:rPr>
              <a:t>•  </a:t>
            </a:r>
            <a:r>
              <a:rPr sz="1400" b="1">
                <a:solidFill>
                  <a:srgbClr val="0B0B0B"/>
                </a:solidFill>
                <a:latin typeface="Calibri"/>
              </a:rPr>
              <a:t>8 shifts </a:t>
            </a:r>
            <a:r>
              <a:rPr sz="1400" b="0">
                <a:solidFill>
                  <a:srgbClr val="0B0B0B"/>
                </a:solidFill>
                <a:latin typeface="Calibri"/>
              </a:rPr>
              <a:t>across 4 employees, reassessed automatically on every add/edit/delete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Where this system should not be trusted blindly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3987E5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Not a medical or occupational-health judgment. </a:t>
            </a:r>
            <a:r>
              <a:rPr sz="1600" b="0">
                <a:solidFill>
                  <a:srgbClr val="0B0B0B"/>
                </a:solidFill>
                <a:latin typeface="Calibri"/>
              </a:rPr>
              <a:t>Rule-based fatigue scoring is a scheduling safeguard, not a substitute for clinical or HR expertise.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3987E5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AI suggestions require sign-off. </a:t>
            </a:r>
            <a:r>
              <a:rPr sz="1600" b="0">
                <a:solidFill>
                  <a:srgbClr val="0B0B0B"/>
                </a:solidFill>
                <a:latin typeface="Calibri"/>
              </a:rPr>
              <a:t>Every AI-generated explanation and alternative must be reviewed by a human manager before being acted 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3987E5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App-layer tenant isolation. </a:t>
            </a:r>
            <a:r>
              <a:rPr sz="1600" b="0">
                <a:solidFill>
                  <a:srgbClr val="0B0B0B"/>
                </a:solidFill>
                <a:latin typeface="Calibri"/>
              </a:rPr>
              <a:t>Isolation is enforced by tenantId filtering in code today; a production deployment handling sensitive HR data should add encryption at rest and regular security audits.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3987E5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Demo-mode billing. </a:t>
            </a:r>
            <a:r>
              <a:rPr sz="1600" b="0">
                <a:solidFill>
                  <a:srgbClr val="0B0B0B"/>
                </a:solidFill>
                <a:latin typeface="Calibri"/>
              </a:rPr>
              <a:t>Without live payment-gateway keys, Razorpay/PayPal flows run in demo mode — not yet wired to a production billing provider.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3987E5"/>
                </a:solidFill>
                <a:latin typeface="Calibri"/>
              </a:rPr>
              <a:t>•  </a:t>
            </a:r>
            <a:r>
              <a:rPr sz="1600" b="1">
                <a:solidFill>
                  <a:srgbClr val="0B0B0B"/>
                </a:solidFill>
                <a:latin typeface="Calibri"/>
              </a:rPr>
              <a:t>One fixed rule set per tenant. </a:t>
            </a:r>
            <a:r>
              <a:rPr sz="1600" b="0">
                <a:solidFill>
                  <a:srgbClr val="0B0B0B"/>
                </a:solidFill>
                <a:latin typeface="Calibri"/>
              </a:rPr>
              <a:t>Fatigue thresholds are configurable in the data model but have no admin UI yet — a future-improvements item, not a current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B0B0B"/>
                </a:solidFill>
                <a:latin typeface="Calibri"/>
              </a:rPr>
              <a:t>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01168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25780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32588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Custom rule configuration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Let each tenant tune rest-hour minimums, weekly caps, and consecutive-day limits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525780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73152" cy="132588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2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Cross-tenant analytics for superadmins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Roll up risk trends across every organization on the platform, not just one tenant at a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525780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32588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Push/email alerts on high-risk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Notify a manager the moment a newly created shift is auto-assessed as high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25780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73152" cy="132588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38328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Employee-initiated shift swaps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A request/approval workflow so employees can trade shifts without a manager re-typing the schedule.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5257800" cy="1325880"/>
          </a:xfrm>
          <a:prstGeom prst="rect">
            <a:avLst/>
          </a:prstGeom>
          <a:solidFill>
            <a:srgbClr val="F9F9F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73152" cy="132588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AI-layer audit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2514E"/>
                </a:solidFill>
                <a:latin typeface="Calibri"/>
              </a:rPr>
              <a:t>Log every explanation shown to a manager, with rate limiting, as an additional guardrail at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987E5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Safer schedules, built on rules you can audit — not a black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3987E5"/>
                </a:solidFill>
                <a:latin typeface="Calibri"/>
              </a:rPr>
              <a:t>•  </a:t>
            </a:r>
            <a:r>
              <a:rPr sz="1700">
                <a:solidFill>
                  <a:srgbClr val="FFFFFF"/>
                </a:solidFill>
                <a:latin typeface="Calibri"/>
              </a:rPr>
              <a:t>A working multi-tenant SaaS platform, built in 10 days, that turns fatigue risk from a blind spot into a visible, explained, and reviewable number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3987E5"/>
                </a:solidFill>
                <a:latin typeface="Calibri"/>
              </a:rPr>
              <a:t>•  </a:t>
            </a:r>
            <a:r>
              <a:rPr sz="1700">
                <a:solidFill>
                  <a:srgbClr val="FFFFFF"/>
                </a:solidFill>
                <a:latin typeface="Calibri"/>
              </a:rPr>
              <a:t>Deterministic rule engine for the score, AI strictly for explanation — with guardrails at every step so the model can never hallucinate a safety-critical number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3987E5"/>
                </a:solidFill>
                <a:latin typeface="Calibri"/>
              </a:rPr>
              <a:t>•  </a:t>
            </a:r>
            <a:r>
              <a:rPr sz="1700">
                <a:solidFill>
                  <a:srgbClr val="FFFFFF"/>
                </a:solidFill>
                <a:latin typeface="Calibri"/>
              </a:rPr>
              <a:t>Automatic, always-current re-assessment: edit one shift, and every affected shift for that employee is quietly re-checked in the background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3987E5"/>
                </a:solidFill>
                <a:latin typeface="Calibri"/>
              </a:rPr>
              <a:t>•  </a:t>
            </a:r>
            <a:r>
              <a:rPr sz="1700">
                <a:solidFill>
                  <a:srgbClr val="FFFFFF"/>
                </a:solidFill>
                <a:latin typeface="Calibri"/>
              </a:rPr>
              <a:t>Designed to extend: per-tenant rule tuning, cross-tenant analytics, and notification workflows are the clear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3C2B7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1338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Raju Sutradhar</cp:lastModifiedBy>
  <cp:revision>2</cp:revision>
  <dcterms:created xsi:type="dcterms:W3CDTF">2013-01-27T09:14:16Z</dcterms:created>
  <dcterms:modified xsi:type="dcterms:W3CDTF">2026-07-10T02:29:07Z</dcterms:modified>
  <cp:category/>
</cp:coreProperties>
</file>